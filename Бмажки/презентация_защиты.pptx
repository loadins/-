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10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Министерство образования Республики Беларусь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188000"/>
            <a:ext cx="10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ГУО «Минский технологический колледж»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1080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CCDDEE"/>
                </a:solidFill>
                <a:latin typeface="Calibri"/>
              </a:rPr>
              <a:t>Курсовой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700000"/>
            <a:ext cx="1080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Разработка программного средства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для обмена сообщениями и файлами</a:t>
            </a:r>
          </a:p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в локальной 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040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Calibri"/>
              </a:rPr>
              <a:t>Выполнил: учащийся гр. 4-09-07п  Самойлов Н.П.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CDDEE"/>
                </a:solidFill>
                <a:latin typeface="Calibri"/>
              </a:rPr>
              <a:t>Руководитель: Макаренко Л.И.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6120000"/>
            <a:ext cx="1080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Минск,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Актуальность и цель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111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Растущая потребность в локальных средствах общения для образовательных учреждений и небольших организаций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Коммерческие мессенджеры (Telegram, Discord, WhatsApp) — облачные, не позволяют развернуть собственный сервер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Учебная ценность: изучение клиент-серверной архитектуры, TCP, асинхронности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3420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Calibri"/>
              </a:rPr>
              <a:t>Цель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3851999"/>
            <a:ext cx="111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Разработать клиент-серверное консольное приложение для обмена сообщениями</a:t>
            </a:r>
          </a:p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и файлами между пользователями в локальной сети с поддержкой регистрации,</a:t>
            </a:r>
          </a:p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комнат, личных сообщений и передачи файлов.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Задачи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Изучить предметную область и проанализировать существующие аналоги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Сформулировать функциональные и нефункциональные требования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Обосновать выбор языка, платформы и компонентов разработки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Спроектировать объектную модель и построить UML-диаграммы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Разработать алгоритмы основных операций и оформить блок-схемы по ГОСТ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Реализовать серверную часть на C# с поддержкой множественных подключений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Реализовать клиентскую часть с консольным интерфейсом на Spectre.Console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4A4A4A"/>
                </a:solidFill>
                <a:latin typeface="Calibri"/>
              </a:rPr>
              <a:t>• Провести тестирование основных функций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Сравнительный обзор аналогов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080000"/>
          <a:ext cx="1044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/>
                <a:gridCol w="2088000"/>
                <a:gridCol w="2088000"/>
                <a:gridCol w="2088000"/>
                <a:gridCol w="2088000"/>
              </a:tblGrid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Функция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Telegram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Discord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WhatsApp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Наш проект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Регистрация пользователей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Групповые комнаты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Личные сообщения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Передача файлов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Открытый исходный 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Локальное развёртывание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Консольный интерфейс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4A4A4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A4A4A"/>
                          </a:solidFill>
                          <a:latin typeface="Calibri"/>
                        </a:rPr>
                        <a:t>+</a:t>
                      </a:r>
                    </a:p>
                  </a:txBody>
                  <a:tcPr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Используемые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C# и .NET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0" y="108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Современный ООП-язык, async/await, NuGet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TCP-сокеты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0" y="162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Надёжная доставка, встроенная поддержка в 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16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Spectre.Console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0" y="216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Цветной структурированный консольный интерфейс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70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System.Text.Json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270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Хранение пользователей и офлайн-сообщений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24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SHA-256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324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Криптографическое хеширование паролей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378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Base64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0" y="378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Передача файлов через текстовый протокол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4320000"/>
            <a:ext cx="324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0" y="4320000"/>
            <a:ext cx="79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A4A4A"/>
                </a:solidFill>
                <a:latin typeface="Calibri"/>
              </a:rPr>
              <a:t>Контейнеризация серверной части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Диаграмма вариантов использования</a:t>
            </a:r>
          </a:p>
        </p:txBody>
      </p:sp>
      <p:pic>
        <p:nvPicPr>
          <p:cNvPr id="4" name="Picture 3" descr="fig_3_1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0" y="1080000"/>
            <a:ext cx="8640000" cy="50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Объектная модель программного средства</a:t>
            </a:r>
          </a:p>
        </p:txBody>
      </p:sp>
      <p:pic>
        <p:nvPicPr>
          <p:cNvPr id="4" name="Picture 3" descr="fig_2_2_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10800000" cy="50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Архитектура клиент-серверного приложения</a:t>
            </a:r>
          </a:p>
        </p:txBody>
      </p:sp>
      <p:pic>
        <p:nvPicPr>
          <p:cNvPr id="4" name="Picture 3" descr="fig_3_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1080000"/>
            <a:ext cx="9360000" cy="50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Алгоритм авторизации пользователя</a:t>
            </a:r>
          </a:p>
        </p:txBody>
      </p:sp>
      <p:pic>
        <p:nvPicPr>
          <p:cNvPr id="4" name="Picture 3" descr="fig_2_3_flow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0" y="900000"/>
            <a:ext cx="5760000" cy="57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Обмен сообщениями в комнате</a:t>
            </a:r>
          </a:p>
        </p:txBody>
      </p:sp>
      <p:pic>
        <p:nvPicPr>
          <p:cNvPr id="4" name="Picture 3" descr="fig_3_5_messag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10080000" cy="50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Формат сообщения протокола</a:t>
            </a:r>
          </a:p>
        </p:txBody>
      </p:sp>
      <p:pic>
        <p:nvPicPr>
          <p:cNvPr id="4" name="Picture 3" descr="fig_2_1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00" y="1080000"/>
            <a:ext cx="10080000" cy="43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5580000"/>
            <a:ext cx="1116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4A4A4A"/>
                </a:solidFill>
                <a:latin typeface="Calibri"/>
              </a:rPr>
              <a:t>Каждое сообщение = 4 байта длины (Int32) + полезная нагрузка в UTF-8.</a:t>
            </a:r>
          </a:p>
          <a:p>
            <a:pPr algn="ctr"/>
            <a:r>
              <a:rPr sz="1600" b="0">
                <a:solidFill>
                  <a:srgbClr val="4A4A4A"/>
                </a:solidFill>
                <a:latin typeface="Calibri"/>
              </a:rPr>
              <a:t>Префикс длины необходим, поскольку TCP не сохраняет границы сообщений.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Реализация: ядро серверной части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3A5F"/>
                </a:solidFill>
                <a:latin typeface="Calibri"/>
              </a:rPr>
              <a:t>Метод HandleClient — обработка подключения клиента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111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Rectangle 5"/>
          <p:cNvSpPr/>
          <p:nvPr/>
        </p:nvSpPr>
        <p:spPr>
          <a:xfrm>
            <a:off x="360000" y="1512000"/>
            <a:ext cx="11160000" cy="4680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1584000"/>
            <a:ext cx="1098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  <a:latin typeface="Consolas"/>
              </a:rPr>
              <a:t>while (currentUser == null) {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var authData = await ReceiveStringAsync(stream);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var parts = authData.Split('|');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string cmd = parts[0], user = parts[1], pass = parts[2];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string hash = GetHash(pass);            // SHA-256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lock (globalLock) {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if (cmd == "REG" &amp;&amp; !userDb.ContainsKey(user)) {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    userDb[user] = hash; SaveUsers();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    currentUser = user;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}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else if (cmd == "LOGIN" &amp;&amp; userDb[user] == hash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         &amp;&amp; !activeClients.ContainsKey(user)) {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    currentUser = user;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    }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}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    await SendStringAsync(stream, "AUTH_OK|OK");</a:t>
            </a:r>
          </a:p>
          <a:p>
            <a:r>
              <a:rPr sz="130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80000"/>
            <a:ext cx="11472119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Результаты и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0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Calibri"/>
              </a:rPr>
              <a:t>Реализованные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111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TCP-сервер с многопользовательской обработкой через async/await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Регистрация и авторизация с SHA-256 хешированием паролей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Система комнат (создание, переход, /leave)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Личные сообщения с офлайн-доставкой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Передача файлов между пользователями через Base64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Трёхпанельный консольный интерфейс на Spectre.Console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4A4A4A"/>
                </a:solidFill>
                <a:latin typeface="Calibri"/>
              </a:rPr>
              <a:t>• Docker-контейнеризация серверной части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5040000"/>
            <a:ext cx="11160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90E2"/>
                </a:solidFill>
                <a:latin typeface="Calibri"/>
              </a:rPr>
              <a:t>Цель достигнута. Все требования реализованы.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000" y="6426000"/>
            <a:ext cx="18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Calibri"/>
              </a:rPr>
              <a:t>Chat-Popushencev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6426000"/>
            <a:ext cx="126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4A4A4A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800000" cy="10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10800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CCDDEE"/>
                </a:solidFill>
                <a:latin typeface="Calibri"/>
              </a:rP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